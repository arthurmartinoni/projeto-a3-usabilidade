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8C0F4-63AB-B113-79C3-E9EAC56071DB}" v="150" dt="2026-06-01T03:59:20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72940-6807-4622-96DA-E7F5E24AAE42}" type="datetimeFigureOut">
              <a:t>31/05/2026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C707A-8D3E-498E-9937-EF947326A81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microsoft.com/office/2007/relationships/hdphoto" Target="../media/hdphoto5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926080"/>
            <a:ext cx="2286000" cy="22860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</a:rPr>
              <a:t>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1F5F9"/>
                </a:solidFill>
              </a:rPr>
              <a:t>FlowBank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Banco Digital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para a Geração Z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8CF8"/>
                </a:solidFill>
              </a:rPr>
              <a:t>MVP · PWA · React · Supabase · Docker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4864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 err="1">
                <a:solidFill>
                  <a:srgbClr val="94A3B8"/>
                </a:solidFill>
              </a:rPr>
              <a:t>Projeto</a:t>
            </a:r>
            <a:r>
              <a:rPr lang="en-US" sz="1100" dirty="0">
                <a:solidFill>
                  <a:srgbClr val="94A3B8"/>
                </a:solidFill>
              </a:rPr>
              <a:t> A3 - UC </a:t>
            </a:r>
            <a:r>
              <a:rPr lang="en-US" sz="1100" dirty="0" err="1">
                <a:solidFill>
                  <a:srgbClr val="94A3B8"/>
                </a:solidFill>
              </a:rPr>
              <a:t>Usabilidade</a:t>
            </a:r>
            <a:r>
              <a:rPr lang="en-US" sz="1100" dirty="0">
                <a:solidFill>
                  <a:srgbClr val="94A3B8"/>
                </a:solidFill>
              </a:rPr>
              <a:t>, </a:t>
            </a:r>
            <a:r>
              <a:rPr lang="en-US" sz="1100" dirty="0" err="1">
                <a:solidFill>
                  <a:srgbClr val="94A3B8"/>
                </a:solidFill>
              </a:rPr>
              <a:t>Desenvolvimento</a:t>
            </a:r>
            <a:r>
              <a:rPr lang="en-US" sz="1100" dirty="0">
                <a:solidFill>
                  <a:srgbClr val="94A3B8"/>
                </a:solidFill>
              </a:rPr>
              <a:t> Web, Mobile e </a:t>
            </a:r>
            <a:r>
              <a:rPr lang="en-US" sz="1100" dirty="0" err="1">
                <a:solidFill>
                  <a:srgbClr val="94A3B8"/>
                </a:solidFill>
              </a:rPr>
              <a:t>Jogos</a:t>
            </a:r>
            <a:endParaRPr lang="en-US" sz="1100" dirty="0" err="1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1º </a:t>
            </a:r>
            <a:r>
              <a:rPr lang="en-US" sz="1100" dirty="0" err="1">
                <a:solidFill>
                  <a:srgbClr val="94A3B8"/>
                </a:solidFill>
              </a:rPr>
              <a:t>Semestre</a:t>
            </a:r>
            <a:r>
              <a:rPr lang="en-US" sz="1100" dirty="0">
                <a:solidFill>
                  <a:srgbClr val="94A3B8"/>
                </a:solidFill>
              </a:rPr>
              <a:t> / 2026 — São Judas Tadeu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731520"/>
            <a:ext cx="2560320" cy="3840480"/>
          </a:xfrm>
          <a:prstGeom prst="roundRect">
            <a:avLst>
              <a:gd name="adj" fmla="val 7143"/>
            </a:avLst>
          </a:prstGeom>
          <a:solidFill>
            <a:srgbClr val="1E1B4B"/>
          </a:solidFill>
          <a:ln w="12700">
            <a:solidFill>
              <a:srgbClr val="6366F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0058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7D2FE"/>
                </a:solidFill>
              </a:rPr>
              <a:t>Saldo disponível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1298448"/>
            <a:ext cx="21031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</a:rPr>
              <a:t>R$ 12.485,50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0025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1F5F9"/>
                </a:solidFill>
              </a:rPr>
              <a:t>Salário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73952" y="2002536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4D399"/>
                </a:solidFill>
              </a:rPr>
              <a:t>+R$ 5.000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46520" y="233172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3682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1F5F9"/>
                </a:solidFill>
              </a:rPr>
              <a:t>Netflix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73952" y="2368296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87171"/>
                </a:solidFill>
              </a:rPr>
              <a:t>-R$ 45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46520" y="269748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73405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1F5F9"/>
                </a:solidFill>
              </a:rPr>
              <a:t>Supermercado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73952" y="2734056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87171"/>
                </a:solidFill>
              </a:rPr>
              <a:t>-R$ 350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46520" y="306324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0998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1F5F9"/>
                </a:solidFill>
              </a:rPr>
              <a:t>Freelance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73952" y="3099816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4D399"/>
                </a:solidFill>
              </a:rPr>
              <a:t>+R$ 1.200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O que os jovens precisam que os bancos tradicionais não entregam?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19202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Burocracia excessiva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Abertura de conta lenta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 processos complexos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508760"/>
            <a:ext cx="19202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Tarifas altas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926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Cobranças que afastam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jovens da autonomia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508760"/>
            <a:ext cx="19202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UX ultrapassada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Interfaces confusas sem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foco em mobile-first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508760"/>
            <a:ext cx="19202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Falta de confiança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926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Jovens sem histórico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creditício excluídos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🎯  Público-alvo: Jovens de 18–30 anos que buscam autonomia financeira, praticidade e uma experiência digital moderna.</a:t>
            </a:r>
            <a:endParaRPr lang="en-US" sz="11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056DAC5-B871-3B2C-CF1A-ED541AB1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13" y="1966913"/>
            <a:ext cx="304800" cy="3048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E7D6ECA-C33C-00F9-D5B9-B1EF8EEF9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75" y="1966913"/>
            <a:ext cx="304800" cy="3048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87C48C8-C733-BF2F-E37A-D8B040389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1966913"/>
            <a:ext cx="304800" cy="3048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C6D4F7DF-D8A3-4BB0-3914-50866B1FF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663" y="1966913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</a:rPr>
              <a:t>A Solução: FlowBank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PWA mobile-first que simula um banco digital completo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9748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933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Autenticação 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Cadastro e login via Supabase Auth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69748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9933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Onboarding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304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Boas-vindas e apresentação das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269748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9933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3042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Saldo, extrato e resumo do mês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269748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5021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Cotações em tempo real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130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Dólar, Euro e Bitcoin via AwesomeAPI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2971800"/>
            <a:ext cx="269748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35021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Gráfico interativo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8130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Histórico de moedas com Recharts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2971800"/>
            <a:ext cx="269748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5021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Docker + Vercel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8130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Containerizado e hospedado na nuvem</a:t>
            </a:r>
            <a:endParaRPr lang="en-US" sz="950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7658DE39-D392-DE60-FE2C-B85C2EB88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3985" y="1635369"/>
            <a:ext cx="304800" cy="3048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B4FA64E-C0A1-8B29-21F4-87D2374123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24754" y="1635370"/>
            <a:ext cx="304800" cy="3048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B8B6FFF7-6AFA-8B6E-2043-81AF1F9054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5523" y="1635369"/>
            <a:ext cx="304800" cy="3048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E2CCFE03-A21D-065A-1A12-4861F7BBCD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  <a14:imgEffect>
                      <a14:brightnessContrast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3985" y="3174023"/>
            <a:ext cx="304800" cy="3048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557D9A41-2E6E-CD62-622A-2C14D8BCCF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  <a14:imgEffect>
                      <a14:brightnessContrast bright="94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3465" y="3174023"/>
            <a:ext cx="304800" cy="304800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34" name="Imagem 33" descr="Logotipo&#10;&#10;O conteúdo gerado por IA pode estar incorreto.">
            <a:extLst>
              <a:ext uri="{FF2B5EF4-FFF2-40B4-BE49-F238E27FC236}">
                <a16:creationId xmlns:a16="http://schemas.microsoft.com/office/drawing/2014/main" id="{013C7701-1CDA-063D-2DEA-3711E6B897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5523" y="3115408"/>
            <a:ext cx="363416" cy="363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</a:rPr>
              <a:t>Stack Técnico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Tecnologias escolhidas por produtividade, escalabilidade e aderência ao mercado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81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React +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984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Componentização, roteamento com React Router, build ultra-rápido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64008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81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66F1"/>
                </a:solidFill>
              </a:rPr>
              <a:t>Estilo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10912" y="1691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Tailwind CSS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984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Design utilitário mobile-first, responsivo e consistente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624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Supabase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127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Auth real com JWT, banco PostgreSQL, Row Level Security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560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603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624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</a:rPr>
              <a:t>API Pública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AwesomeAPI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3127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Cotações de Dólar, Euro e Bitcoin em tempo real, gratuita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03320"/>
            <a:ext cx="6400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767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</a:rPr>
              <a:t>Gráficos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Recharts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4270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Gráfico de linha interativo com tooltip personalizado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0332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767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</a:rPr>
              <a:t>DevOps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</a:rPr>
              <a:t>Docker + Vercel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10912" y="4270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Container Nginx para produção, deploy contínuo via GitHub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</a:rPr>
              <a:t>Design Thinking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Jornada do </a:t>
            </a:r>
            <a:r>
              <a:rPr lang="en-US" sz="1300" dirty="0" err="1">
                <a:solidFill>
                  <a:srgbClr val="94A3B8"/>
                </a:solidFill>
              </a:rPr>
              <a:t>usuário</a:t>
            </a:r>
            <a:r>
              <a:rPr lang="en-US" sz="1300" dirty="0">
                <a:solidFill>
                  <a:srgbClr val="94A3B8"/>
                </a:solidFill>
              </a:rPr>
              <a:t> </a:t>
            </a:r>
            <a:r>
              <a:rPr lang="en-US" sz="1300" dirty="0" err="1">
                <a:solidFill>
                  <a:srgbClr val="94A3B8"/>
                </a:solidFill>
              </a:rPr>
              <a:t>em</a:t>
            </a:r>
            <a:r>
              <a:rPr lang="en-US" sz="1300" dirty="0">
                <a:solidFill>
                  <a:srgbClr val="94A3B8"/>
                </a:solidFill>
              </a:rPr>
              <a:t> 5 </a:t>
            </a:r>
            <a:r>
              <a:rPr lang="en-US" sz="1300" dirty="0" err="1">
                <a:solidFill>
                  <a:srgbClr val="94A3B8"/>
                </a:solidFill>
              </a:rPr>
              <a:t>etapas</a:t>
            </a:r>
            <a:r>
              <a:rPr lang="en-US" sz="1300" dirty="0">
                <a:solidFill>
                  <a:srgbClr val="94A3B8"/>
                </a:solidFill>
              </a:rPr>
              <a:t> do pr</a:t>
            </a:r>
            <a:r>
              <a:rPr lang="en-US" sz="1300" dirty="0" err="1">
                <a:solidFill>
                  <a:srgbClr val="94A3B8"/>
                </a:solidFill>
              </a:rPr>
              <a:t>imeiro c</a:t>
            </a:r>
            <a:r>
              <a:rPr lang="en-US" sz="1300" dirty="0">
                <a:solidFill>
                  <a:srgbClr val="94A3B8"/>
                </a:solidFill>
              </a:rPr>
              <a:t>o</a:t>
            </a:r>
            <a:r>
              <a:rPr lang="en-US" sz="1300" dirty="0" err="1">
                <a:solidFill>
                  <a:srgbClr val="94A3B8"/>
                </a:solidFill>
              </a:rPr>
              <a:t>ntato à</a:t>
            </a:r>
            <a:r>
              <a:rPr lang="en-US" sz="1300" dirty="0">
                <a:solidFill>
                  <a:srgbClr val="94A3B8"/>
                </a:solidFill>
              </a:rPr>
              <a:t> co</a:t>
            </a:r>
            <a:r>
              <a:rPr lang="en-US" sz="1300" dirty="0" err="1">
                <a:solidFill>
                  <a:srgbClr val="94A3B8"/>
                </a:solidFill>
              </a:rPr>
              <a:t>nfiança f</a:t>
            </a:r>
            <a:r>
              <a:rPr lang="en-US" sz="1300" dirty="0">
                <a:solidFill>
                  <a:srgbClr val="94A3B8"/>
                </a:solidFill>
              </a:rPr>
              <a:t>i</a:t>
            </a:r>
            <a:r>
              <a:rPr lang="en-US" sz="1300" dirty="0" err="1">
                <a:solidFill>
                  <a:srgbClr val="94A3B8"/>
                </a:solidFill>
              </a:rPr>
              <a:t>nanceira</a:t>
            </a:r>
            <a:endParaRPr lang="en-US" sz="1300" dirty="0" err="1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08760" cy="3108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50876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</a:rPr>
              <a:t>Descoberta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Redes sociais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 indicações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29260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84832" y="1371600"/>
            <a:ext cx="1508760" cy="3108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9172" y="150876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9172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84832" y="2286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</a:rPr>
              <a:t>Primeiro Acesso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84832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Cadastro rápido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 onboarding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93592" y="29260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803904" y="1371600"/>
            <a:ext cx="1508760" cy="3108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8244" y="1508760"/>
            <a:ext cx="640080" cy="6400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8244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03904" y="2286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</a:rPr>
              <a:t>Exploração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03904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Dashboard,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gráficos e extrato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12664" y="29260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522976" y="1371600"/>
            <a:ext cx="1508760" cy="3108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57316" y="1508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7316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22976" y="2286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</a:rPr>
              <a:t>Uso Recorrente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22976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Transferências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 controle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31736" y="29260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242048" y="1371600"/>
            <a:ext cx="1508760" cy="31089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6388" y="1508760"/>
            <a:ext cx="640080" cy="6400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638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42048" y="2286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</a:rPr>
              <a:t>Confiança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42048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Indicação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para amigos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r>
              <a:rPr lang="en-US" sz="1050" dirty="0">
                <a:solidFill>
                  <a:srgbClr val="F1F5F9"/>
                </a:solidFill>
              </a:rPr>
              <a:t>    Mapa de </a:t>
            </a:r>
            <a:r>
              <a:rPr lang="en-US" sz="1050" dirty="0" err="1">
                <a:solidFill>
                  <a:srgbClr val="F1F5F9"/>
                </a:solidFill>
              </a:rPr>
              <a:t>Empatia</a:t>
            </a:r>
            <a:r>
              <a:rPr lang="en-US" sz="1050" dirty="0">
                <a:solidFill>
                  <a:srgbClr val="F1F5F9"/>
                </a:solidFill>
              </a:rPr>
              <a:t>: Jovens </a:t>
            </a:r>
            <a:r>
              <a:rPr lang="en-US" sz="1050" dirty="0" err="1">
                <a:solidFill>
                  <a:srgbClr val="F1F5F9"/>
                </a:solidFill>
              </a:rPr>
              <a:t>sentem</a:t>
            </a:r>
            <a:r>
              <a:rPr lang="en-US" sz="1050" dirty="0">
                <a:solidFill>
                  <a:srgbClr val="F1F5F9"/>
                </a:solidFill>
              </a:rPr>
              <a:t> </a:t>
            </a:r>
            <a:r>
              <a:rPr lang="en-US" sz="1050" dirty="0" err="1">
                <a:solidFill>
                  <a:srgbClr val="F1F5F9"/>
                </a:solidFill>
              </a:rPr>
              <a:t>ansiedade</a:t>
            </a:r>
            <a:r>
              <a:rPr lang="en-US" sz="1050" dirty="0">
                <a:solidFill>
                  <a:srgbClr val="F1F5F9"/>
                </a:solidFill>
              </a:rPr>
              <a:t> com </a:t>
            </a:r>
            <a:r>
              <a:rPr lang="en-US" sz="1050" dirty="0" err="1">
                <a:solidFill>
                  <a:srgbClr val="F1F5F9"/>
                </a:solidFill>
              </a:rPr>
              <a:t>gastos</a:t>
            </a:r>
            <a:r>
              <a:rPr lang="en-US" sz="1050" dirty="0">
                <a:solidFill>
                  <a:srgbClr val="F1F5F9"/>
                </a:solidFill>
              </a:rPr>
              <a:t>, </a:t>
            </a:r>
            <a:r>
              <a:rPr lang="en-US" sz="1050" dirty="0" err="1">
                <a:solidFill>
                  <a:srgbClr val="F1F5F9"/>
                </a:solidFill>
              </a:rPr>
              <a:t>querem</a:t>
            </a:r>
            <a:r>
              <a:rPr lang="en-US" sz="1050" dirty="0">
                <a:solidFill>
                  <a:srgbClr val="F1F5F9"/>
                </a:solidFill>
              </a:rPr>
              <a:t> </a:t>
            </a:r>
            <a:r>
              <a:rPr lang="en-US" sz="1050" dirty="0" err="1">
                <a:solidFill>
                  <a:srgbClr val="F1F5F9"/>
                </a:solidFill>
              </a:rPr>
              <a:t>praticidade</a:t>
            </a:r>
            <a:r>
              <a:rPr lang="en-US" sz="1050" dirty="0">
                <a:solidFill>
                  <a:srgbClr val="F1F5F9"/>
                </a:solidFill>
              </a:rPr>
              <a:t> e </a:t>
            </a:r>
            <a:r>
              <a:rPr lang="en-US" sz="1050" dirty="0" err="1">
                <a:solidFill>
                  <a:srgbClr val="F1F5F9"/>
                </a:solidFill>
              </a:rPr>
              <a:t>buscam</a:t>
            </a:r>
            <a:r>
              <a:rPr lang="en-US" sz="1050" dirty="0">
                <a:solidFill>
                  <a:srgbClr val="F1F5F9"/>
                </a:solidFill>
              </a:rPr>
              <a:t> </a:t>
            </a:r>
            <a:r>
              <a:rPr lang="en-US" sz="1050" dirty="0" err="1">
                <a:solidFill>
                  <a:srgbClr val="F1F5F9"/>
                </a:solidFill>
              </a:rPr>
              <a:t>pertencimento</a:t>
            </a:r>
            <a:r>
              <a:rPr lang="en-US" sz="1050" dirty="0">
                <a:solidFill>
                  <a:srgbClr val="F1F5F9"/>
                </a:solidFill>
              </a:rPr>
              <a:t> digital</a:t>
            </a:r>
            <a:endParaRPr lang="en-US" sz="105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C69BCAF2-7F7A-A27A-2CE5-D65A95FBF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53" y="4654062"/>
            <a:ext cx="253512" cy="260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</a:rPr>
              <a:t>Resultados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94A3B8"/>
                </a:solidFill>
              </a:rPr>
              <a:t>O que foi entregue:</a:t>
            </a:r>
            <a:endParaRPr lang="en-US" sz="13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366F1"/>
                </a:solidFill>
              </a:rPr>
              <a:t>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Telas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navegáveis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37160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APIs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integradas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Hospedado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nuvem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371600"/>
            <a:ext cx="19202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366F1"/>
                </a:solidFill>
              </a:rPr>
              <a:t>Real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Auth com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Supabase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3210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90088"/>
            <a:ext cx="804672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1E293B"/>
                </a:solidFill>
              </a:rPr>
              <a:t> Auth real com </a:t>
            </a:r>
            <a:r>
              <a:rPr lang="en-US" sz="1150" dirty="0" err="1">
                <a:solidFill>
                  <a:srgbClr val="1E293B"/>
                </a:solidFill>
              </a:rPr>
              <a:t>Supabase</a:t>
            </a:r>
            <a:endParaRPr lang="en-US" sz="1150" dirty="0" err="1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410712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29000"/>
            <a:ext cx="804672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1E293B"/>
                </a:solidFill>
              </a:rPr>
              <a:t> Docker </a:t>
            </a:r>
            <a:r>
              <a:rPr lang="en-US" sz="1150" dirty="0" err="1">
                <a:solidFill>
                  <a:srgbClr val="1E293B"/>
                </a:solidFill>
              </a:rPr>
              <a:t>containerizado</a:t>
            </a:r>
            <a:r>
              <a:rPr lang="en-US" sz="1150" dirty="0">
                <a:solidFill>
                  <a:srgbClr val="1E293B"/>
                </a:solidFill>
              </a:rPr>
              <a:t> com Nginx para </a:t>
            </a:r>
            <a:r>
              <a:rPr lang="en-US" sz="1150" dirty="0" err="1">
                <a:solidFill>
                  <a:srgbClr val="1E293B"/>
                </a:solidFill>
              </a:rPr>
              <a:t>produção</a:t>
            </a:r>
            <a:endParaRPr lang="en-US" sz="115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849624"/>
            <a:ext cx="83210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67912"/>
            <a:ext cx="804672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1E293B"/>
                </a:solidFill>
              </a:rPr>
              <a:t> Deploy </a:t>
            </a:r>
            <a:r>
              <a:rPr lang="en-US" sz="1150" dirty="0" err="1">
                <a:solidFill>
                  <a:srgbClr val="1E293B"/>
                </a:solidFill>
              </a:rPr>
              <a:t>na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Vercel</a:t>
            </a:r>
            <a:r>
              <a:rPr lang="en-US" sz="1150" dirty="0">
                <a:solidFill>
                  <a:srgbClr val="1E293B"/>
                </a:solidFill>
              </a:rPr>
              <a:t> com link </a:t>
            </a:r>
            <a:r>
              <a:rPr lang="en-US" sz="1150" dirty="0" err="1">
                <a:solidFill>
                  <a:srgbClr val="1E293B"/>
                </a:solidFill>
              </a:rPr>
              <a:t>público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endParaRPr lang="en-US" sz="11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288536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06824"/>
            <a:ext cx="804672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1E293B"/>
                </a:solidFill>
              </a:rPr>
              <a:t> </a:t>
            </a:r>
            <a:r>
              <a:rPr lang="en-US" sz="1150" dirty="0" err="1">
                <a:solidFill>
                  <a:srgbClr val="1E293B"/>
                </a:solidFill>
              </a:rPr>
              <a:t>Cotações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em</a:t>
            </a:r>
            <a:r>
              <a:rPr lang="en-US" sz="1150" dirty="0">
                <a:solidFill>
                  <a:srgbClr val="1E293B"/>
                </a:solidFill>
              </a:rPr>
              <a:t> tempo real via </a:t>
            </a:r>
            <a:r>
              <a:rPr lang="en-US" sz="1150" dirty="0" err="1">
                <a:solidFill>
                  <a:srgbClr val="1E293B"/>
                </a:solidFill>
              </a:rPr>
              <a:t>AwesomeAPI</a:t>
            </a:r>
            <a:r>
              <a:rPr lang="en-US" sz="1150" dirty="0">
                <a:solidFill>
                  <a:srgbClr val="1E293B"/>
                </a:solidFill>
              </a:rPr>
              <a:t> com </a:t>
            </a:r>
            <a:r>
              <a:rPr lang="en-US" sz="1150" dirty="0" err="1">
                <a:solidFill>
                  <a:srgbClr val="1E293B"/>
                </a:solidFill>
              </a:rPr>
              <a:t>gráfico</a:t>
            </a:r>
            <a:r>
              <a:rPr lang="en-US" sz="1150" dirty="0">
                <a:solidFill>
                  <a:srgbClr val="1E293B"/>
                </a:solidFill>
              </a:rPr>
              <a:t> </a:t>
            </a:r>
            <a:r>
              <a:rPr lang="en-US" sz="1150" dirty="0" err="1">
                <a:solidFill>
                  <a:srgbClr val="1E293B"/>
                </a:solidFill>
              </a:rPr>
              <a:t>interativo</a:t>
            </a:r>
            <a:endParaRPr lang="en-US" sz="115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8E63113F-7264-A41F-421C-4AAAEB4CD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7" y="3481753"/>
            <a:ext cx="246185" cy="22420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385F57C-0BFF-C857-42EA-32D6DE8B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6" y="3042137"/>
            <a:ext cx="246185" cy="22420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91E7BD54-501A-19F2-5F9C-B8085F35A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7" y="3921368"/>
            <a:ext cx="246185" cy="22420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A165C64-69C0-7F9F-3FE1-75A5D4F6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6" y="4360983"/>
            <a:ext cx="246185" cy="224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818CF8">
              <a:alpha val="13000"/>
            </a:srgbClr>
          </a:solidFill>
          <a:ln w="12700">
            <a:solidFill>
              <a:srgbClr val="818CF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57882" y="420565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57882" y="4461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1F5F9"/>
                </a:solidFill>
              </a:rPr>
              <a:t>FlowBank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Autonomia financeira para a geração digital.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01752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  projeto-a3-usabilidade.vercel.app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</a:rPr>
              <a:t>Obrigado!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Dúvidas e perguntas são bem-vindas.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FlowBank — Pitch A3</dc:title>
  <dc:subject>PptxGenJS Presentation</dc:subject>
  <dc:creator>PptxGenJS</dc:creator>
  <cp:lastModifiedBy>PptxGenJS</cp:lastModifiedBy>
  <cp:revision>91</cp:revision>
  <dcterms:created xsi:type="dcterms:W3CDTF">2026-06-01T03:35:02Z</dcterms:created>
  <dcterms:modified xsi:type="dcterms:W3CDTF">2026-06-01T03:59:30Z</dcterms:modified>
</cp:coreProperties>
</file>